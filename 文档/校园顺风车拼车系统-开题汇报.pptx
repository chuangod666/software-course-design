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63840" y="1143000"/>
            <a:ext cx="3703320" cy="4572000"/>
          </a:xfrm>
          <a:prstGeom prst="roundRect">
            <a:avLst>
              <a:gd name="adj" fmla="val 14000"/>
            </a:avLst>
          </a:prstGeom>
          <a:solidFill>
            <a:srgbClr val="16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6760" y="2395728"/>
            <a:ext cx="2697480" cy="4572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0" i="0">
                <a:solidFill>
                  <a:srgbClr val="178F82"/>
                </a:solidFill>
                <a:latin typeface="微软雅黑"/>
                <a:ea typeface="微软雅黑"/>
              </a:rPr>
              <a:t>软件需求构思与描述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7132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校园顺风车拼车系统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 i="0">
                <a:solidFill>
                  <a:srgbClr val="9FC2D1"/>
                </a:solidFill>
                <a:latin typeface="微软雅黑"/>
                <a:ea typeface="微软雅黑"/>
              </a:rPr>
              <a:t>实名认证 · 结构化检索 · 信用约束的
校园共享出行平台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315968"/>
            <a:ext cx="6035040" cy="10972"/>
          </a:xfrm>
          <a:prstGeom prst="rect">
            <a:avLst/>
          </a:prstGeom>
          <a:solidFill>
            <a:srgbClr val="2A5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0" i="0">
                <a:solidFill>
                  <a:srgbClr val="BFD4DE"/>
                </a:solidFill>
                <a:latin typeface="微软雅黑"/>
                <a:ea typeface="微软雅黑"/>
              </a:rPr>
              <a:t>汇报团队：校园顺风车拼车系统项目组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 i="0">
                <a:solidFill>
                  <a:srgbClr val="BFD4DE"/>
                </a:solidFill>
                <a:latin typeface="微软雅黑"/>
                <a:ea typeface="微软雅黑"/>
              </a:rPr>
              <a:t>汇报时间：2026 年 9 月    汇报形式：PPT 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697480"/>
            <a:ext cx="2788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200" b="1" i="0">
                <a:solidFill>
                  <a:srgbClr val="178F82"/>
                </a:solidFill>
                <a:latin typeface="微软雅黑"/>
                <a:ea typeface="微软雅黑"/>
              </a:rPr>
              <a:t>课题定位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共享出行 · 顺风车细分领域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落地场景：高校校园出行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服务对象：本校在校学生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502920"/>
            <a:ext cx="7315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汇报内容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0908792" cy="804672"/>
          </a:xfrm>
          <a:prstGeom prst="roundRect">
            <a:avLst>
              <a:gd name="adj" fmla="val 11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100" b="1" i="0">
                <a:solidFill>
                  <a:srgbClr val="178F8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739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课题意义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470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行业背景、现有方案的四大痛点、课题价值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42032"/>
            <a:ext cx="10908792" cy="804672"/>
          </a:xfrm>
          <a:prstGeom prst="roundRect">
            <a:avLst>
              <a:gd name="adj" fmla="val 11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100" b="1" i="0">
                <a:solidFill>
                  <a:srgbClr val="178F8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6883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竞品分析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614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滴滴顺风车 / 校园拼车微信群 / 差异化定位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56432"/>
            <a:ext cx="10908792" cy="804672"/>
          </a:xfrm>
          <a:prstGeom prst="roundRect">
            <a:avLst>
              <a:gd name="adj" fmla="val 11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100" b="1" i="0">
                <a:solidFill>
                  <a:srgbClr val="178F8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027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课题需求详细介绍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6758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创意内核、七大功能模块、用例与关键机制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0908792" cy="804672"/>
          </a:xfrm>
          <a:prstGeom prst="roundRect">
            <a:avLst>
              <a:gd name="adj" fmla="val 11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100" b="1" i="0">
                <a:solidFill>
                  <a:srgbClr val="178F82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171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技术选型与可行性评估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5902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技术栈、系统架构、可行性、风险与应对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2"/>
            <a:ext cx="10908792" cy="804672"/>
          </a:xfrm>
          <a:prstGeom prst="roundRect">
            <a:avLst>
              <a:gd name="adj" fmla="val 11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68112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100" b="1" i="0">
                <a:solidFill>
                  <a:srgbClr val="178F82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431536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第二周工作进度安排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50468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日程计划、分组分工、交付物与验收标准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21556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课题意义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315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FB4C4"/>
                </a:solidFill>
                <a:latin typeface="微软雅黑"/>
                <a:ea typeface="微软雅黑"/>
              </a:rPr>
              <a:t>为什么做校园顺风车拼车系统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005840" cy="4114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行业背景：校园出行的供需错配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应用领域：共享出行 → 顺风车细分 → 高校校园出行场景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350" b="0" i="0">
                <a:solidFill>
                  <a:srgbClr val="1D2A36"/>
                </a:solidFill>
                <a:latin typeface="微软雅黑"/>
                <a:ea typeface="微软雅黑"/>
              </a:rPr>
              <a:t>▍高校集中办学催生大学城与多校区格局，学生往返高铁站、地铁站、公交站的出行需求十分频繁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 i="0">
                <a:solidFill>
                  <a:srgbClr val="1D2A36"/>
                </a:solidFill>
                <a:latin typeface="微软雅黑"/>
                <a:ea typeface="微软雅黑"/>
              </a:rPr>
              <a:t>▍以本校到南京站为例：现有三种出行方式，各有一个绕不开的硬伤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063240"/>
          <a:ext cx="10908792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/>
                <a:gridCol w="1691640"/>
                <a:gridCol w="2377440"/>
                <a:gridCol w="501091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出行方式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单程花费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单程耗时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主要问题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网约车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20 ~ 25 元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20 min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节假日人多打不到车，延误出行时间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公共交通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4 元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1 h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耗时长、需换乘、班车不准时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校门黑车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30 ~ 40 元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20 min + 司机揽客时间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宰客、无运营资质、安全问题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0E5C54"/>
                </a:solidFill>
                <a:latin typeface="微软雅黑"/>
                <a:ea typeface="微软雅黑"/>
              </a:rPr>
              <a:t>核心判断：学生真正想要的，是「网约车的速度与可接受的价格」+「可信的身份保障」——而这两点，恰恰是现有任何一种方式都没有同时给到的。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现有替代方案：QQ 群 / 微信群 / 贴吧的四个根本痛点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它们解决了“信息撮合”，却没解决“可信与约束”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36192"/>
            <a:ext cx="5349240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37106"/>
            <a:ext cx="68580" cy="1936699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400" b="1" i="0">
                <a:solidFill>
                  <a:srgbClr val="E0E7E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177393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信息不可检索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群消息按时间滚动，昨天的行程今天翻不到。
想找“明天下午去高铁站”的车，几乎不可能。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36192"/>
            <a:ext cx="5349240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537106"/>
            <a:ext cx="68580" cy="1936699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7373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400" b="1" i="0">
                <a:solidFill>
                  <a:srgbClr val="E0E7E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773936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身份不可信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77440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群成员昵称可随意更改，无法确认对方是否为本校学生。
黑车司机混入群内揽客的情况时有发生。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75887"/>
            <a:ext cx="5349240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76802"/>
            <a:ext cx="68580" cy="1936699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7705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400" b="1" i="0">
                <a:solidFill>
                  <a:srgbClr val="E0E7E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3913631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过程无保障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17136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车主临时爽约、乘客放鸽子、费用纠纷没有约束机制。
事后无法追溯，全凭个人自觉。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675887"/>
            <a:ext cx="5349240" cy="19385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676802"/>
            <a:ext cx="68580" cy="1936699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3877055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400" b="1" i="0">
                <a:solidFill>
                  <a:srgbClr val="E0E7EC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3913631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安全无兜底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517136"/>
            <a:ext cx="48463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独自乘坐陌生人的车，行程不被任何人知晓。
一旦发生意外，无法及时求助。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课题意义：把“陌生人拼车”重构为“学生互助网络”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35021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36192"/>
            <a:ext cx="3502152" cy="6858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700" b="1" i="0">
                <a:solidFill>
                  <a:srgbClr val="0E2A3D"/>
                </a:solidFill>
                <a:latin typeface="微软雅黑"/>
                <a:ea typeface="微软雅黑"/>
              </a:rPr>
              <a:t>场景价值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用实名认证这一道准入门槛，把开放式的陌生人拼车，重构为封闭式的学生互助网络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直击 15~30 元校园短途场景：商业平台车主不愿接，学生自己又组织不好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让“同路人”真正找得到彼此，把零散需求聚合成可用的运力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36192"/>
            <a:ext cx="35021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36192"/>
            <a:ext cx="3502152" cy="685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700" b="1" i="0">
                <a:solidFill>
                  <a:srgbClr val="0E2A3D"/>
                </a:solidFill>
                <a:latin typeface="微软雅黑"/>
                <a:ea typeface="微软雅黑"/>
              </a:rPr>
              <a:t>技术价值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7744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并发控制：多人同时被同意时的座位超卖问题，用原子 UPDATE + InnoDB 行锁解决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状态机建模：行程 / 订单 / 认证三套状态流转，覆盖真实业务的全生命周期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完整工程闭环：前后端分离、鉴权、文件上传、分页检索、数据看板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36192"/>
            <a:ext cx="350215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36192"/>
            <a:ext cx="3502152" cy="68580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810512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700" b="1" i="0">
                <a:solidFill>
                  <a:srgbClr val="0E2A3D"/>
                </a:solidFill>
                <a:latin typeface="微软雅黑"/>
                <a:ea typeface="微软雅黑"/>
              </a:rPr>
              <a:t>社会价值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7744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降低学生出行成本，减少校门黑车宰客与无资质运营乱象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行程分享 + 一键求助，让每一次出行都有第三方知晓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• 信用分机制淘汰劣质用户，培育校园互助的诚信氛围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21556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竞品分析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315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FB4C4"/>
                </a:solidFill>
                <a:latin typeface="微软雅黑"/>
                <a:ea typeface="微软雅黑"/>
              </a:rPr>
              <a:t>现有商业平台与学生自发方案，各自强在哪、弱在哪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005840" cy="4114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竞品一：滴滴顺风车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定位：全国性合乘平台，出行领域的头部产品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 i="0">
                <a:solidFill>
                  <a:srgbClr val="0E5C54"/>
                </a:solidFill>
                <a:latin typeface="微软雅黑"/>
                <a:ea typeface="微软雅黑"/>
              </a:rPr>
              <a:t>优  势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用户量巨大，双边网络效应强，成单率高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路线匹配算法成熟，顺路度计算精准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具备行程分享、行程录音、紧急联系人等完整安全功能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有完备的实名与司机背景审查体系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 i="0">
                <a:solidFill>
                  <a:srgbClr val="D97B22"/>
                </a:solidFill>
                <a:latin typeface="微软雅黑"/>
                <a:ea typeface="微软雅黑"/>
              </a:rPr>
              <a:t>劣  势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2018 年因安全事故下线整改，社会信任度受损明显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车主多为社会人员临时接单，职业化程度低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校园短途订单（15~30 元）车主接单意愿极低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平台抽成与定价机制不适用于学生互助场景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19472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0E2A3D"/>
                </a:solidFill>
                <a:latin typeface="微软雅黑"/>
                <a:ea typeface="微软雅黑"/>
              </a:rPr>
              <a:t>结论：模式可借鉴 —— 行程分享、紧急联系人、双向评价等安全与信用设计值得吸收；但其面向社会车辆的产品逻辑，天然不适配校园短途场景，无法直接复用。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竞品二：校园拼车微信群（QQ 群 / 贴吧）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定位：学生自发组织的即时通讯群，当前的主流替代方案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 i="0">
                <a:solidFill>
                  <a:srgbClr val="0E5C54"/>
                </a:solidFill>
                <a:latin typeface="微软雅黑"/>
                <a:ea typeface="微软雅黑"/>
              </a:rPr>
              <a:t>优  势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零成本、零门槛，有手机号就能用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上手快，发一条消息就能发起拼车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场景天然适配：群成员本就是同校学生，需求高度重合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在节假日等高峰时段已被学生广泛使用，验证了需求真实存在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00" b="1" i="0">
                <a:solidFill>
                  <a:srgbClr val="D97B22"/>
                </a:solidFill>
                <a:latin typeface="微软雅黑"/>
                <a:ea typeface="微软雅黑"/>
              </a:rPr>
              <a:t>劣  势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信息难以发现：消息按时间滚动，检索能力为零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身份不可验证：昵称可随意更改，黑车司机可混入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无任何约束力：爽约、放鸽子没有任何代价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1D2A36"/>
                </a:solidFill>
                <a:latin typeface="微软雅黑"/>
                <a:ea typeface="微软雅黑"/>
              </a:rPr>
              <a:t>• 无安全兜底：行程不透明，出事无人知晓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19472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0E2A3D"/>
                </a:solidFill>
                <a:latin typeface="微软雅黑"/>
                <a:ea typeface="微软雅黑"/>
              </a:rPr>
              <a:t>结论：这是本系统的主要替代对象 —— 现有方案已经验证了需求真实存在，我们要做的是“取其场景适配之长，补其身份、检索、约束、安全之短”。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竞品对比矩阵：六个维度的能力差距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对照商业平台与学生自发方案，定位本系统的补齐点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10908792" cy="3328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5960"/>
                <a:gridCol w="2331720"/>
                <a:gridCol w="2286000"/>
                <a:gridCol w="4325112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对比维度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滴滴顺风车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校园拼车微信群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本系统（校园顺风车拼车）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场景适配度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低（社会车辆逻辑）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高（同校学生天然匹配）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高（专为校园短途设计）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身份可信度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中（社会实名）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无（昵称可改）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高（学号注册 + 学生证人工审核）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信息检索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强（算法推荐）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无（消息滚动）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强（出发地/目的地/日期/状态组合检索）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履约约束力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中（平台规则）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强（信用分 + 双向评价 + 流水可追溯）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安全保障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强（录音/分享）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中高（行程分享 + 一键求助 + 紧急联系人）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短途接单意愿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低（15~30 元不接）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高（同学互助）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高（私家车顺风车 + 网约车拼单双类型）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分析结论：取两者之长，形成明确的差异化定位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500" b="1" i="0">
                <a:solidFill>
                  <a:srgbClr val="0E2A3D"/>
                </a:solidFill>
                <a:latin typeface="微软雅黑"/>
                <a:ea typeface="微软雅黑"/>
              </a:rPr>
              <a:t>商业平台：强在体系，弱在场景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A6B7A"/>
                </a:solidFill>
                <a:latin typeface="微软雅黑"/>
                <a:ea typeface="微软雅黑"/>
              </a:rPr>
              <a:t>技术成熟、安全体系完备，但车主是社会人员，对 15~30 元的校园短途订单接单意愿极低——不是能力问题，而是商业模型的必然结果。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164592" tIns="109728" bIns="109728"/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500" b="1" i="0">
                <a:solidFill>
                  <a:srgbClr val="0E2A3D"/>
                </a:solidFill>
                <a:latin typeface="微软雅黑"/>
                <a:ea typeface="微软雅黑"/>
              </a:rPr>
              <a:t>学生自发方案：强在场景，弱在机制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 i="0">
                <a:solidFill>
                  <a:srgbClr val="5A6B7A"/>
                </a:solidFill>
                <a:latin typeface="微软雅黑"/>
                <a:ea typeface="微软雅黑"/>
              </a:rPr>
              <a:t>需求真实、场景适配、零成本，但信息不可检索、身份不可信、过程无约束、安全无兜底，四个痛点长期无解。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41648"/>
            <a:ext cx="10908792" cy="1234440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0E5C54"/>
                </a:solidFill>
                <a:latin typeface="微软雅黑"/>
                <a:ea typeface="微软雅黑"/>
              </a:rPr>
              <a:t>本系统的差异化价值：用商业平台的工程化手段（实名认证准入、信用体系、状态机、并发控制），
去解决学生自发方案的具体痛点 —— 既保留了同学互助的低成本与高适配，又补上了可信、可查、可约束、可追溯。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21556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课题需求详细介绍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315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FB4C4"/>
                </a:solidFill>
                <a:latin typeface="微软雅黑"/>
                <a:ea typeface="微软雅黑"/>
              </a:rPr>
              <a:t>创意内核 · 功能模块 · 用例模型 · 关键机制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005840" cy="4114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创意内核：三个设计支点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本系统不是“又一个拼车群”，而是用软件机制替换人工秩序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2242"/>
            <a:ext cx="68580" cy="1552651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36776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 i="0">
                <a:solidFill>
                  <a:srgbClr val="0E2A3D"/>
                </a:solidFill>
                <a:latin typeface="微软雅黑"/>
                <a:ea typeface="微软雅黑"/>
              </a:rPr>
              <a:t>支点一  实名认证准入闸门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以学号注册 + 真实姓名 + 手机号为基础身份信息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上传学生证照片，由管理员人工审核通过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未通过认证：不能发布行程，也不能申请拼车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效果：把开放式的陌生人拼车，重构为封闭式的学生互助网络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28162"/>
            <a:ext cx="68580" cy="1552651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82696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 i="0">
                <a:solidFill>
                  <a:srgbClr val="0E2A3D"/>
                </a:solidFill>
                <a:latin typeface="微软雅黑"/>
                <a:ea typeface="微软雅黑"/>
              </a:rPr>
              <a:t>支点二  行程数据结构化 + 多条件组合检索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66744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把杂乱的群消息拆解为结构化字段：出发地、目的地、出发时间、座位数、费用、车辆信息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行程大厅按出发地 / 目的地 / 出发日期 / 状态组合检索，分页展示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效果：乘客能精准找到“明天下午去高铁站”的车，而不是翻聊天记录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73168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774082"/>
            <a:ext cx="68580" cy="1552651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28616"/>
            <a:ext cx="4937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00" b="1" i="0">
                <a:solidFill>
                  <a:srgbClr val="0E2A3D"/>
                </a:solidFill>
                <a:latin typeface="微软雅黑"/>
                <a:ea typeface="微软雅黑"/>
              </a:rPr>
              <a:t>支点三  信用分驱动的劣质用户淘汰机制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2664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履约行为自动增减信用分，并记录不可篡改的流水明细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取消行程 -5、已同意后取消申请 -5、4~5 星好评 +1、1~2 星差评 -3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信用分低于 60 分，禁止发布行程与申请拼车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效果：放鸽子、图谋不轨的用户被逐渐挤出平台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功能模块总览：七大模块，覆盖出行全生命周期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从注册准入 → 发布检索 → 申请成交 → 评价信用 → 安全兜底 → 后台治理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934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模块一  用户与实名认证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27632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学号注册登录 · 学生证上传 · 管理员审核通过/驳回 · JWT 鉴权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3412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14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模块二  车辆管理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99716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登记车牌/车型/颜色/核载人数 · 编辑删除 · 管理员核验 · 发布行程仅可选本人已审车辆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25496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5351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模块三  行程发布与检索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双类型发布 · 行程大厅组合检索分页 · 详情展示 · 状态自动流转 · 编辑与取消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97579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25596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模块四  拼车申请与订单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643884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乘客申请 · 车主同意/拒绝 · 乘客取消 · 双向进度查看 · 防超卖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9663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97679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模块五  评价与信用分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315968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行程完成后互评（1~5 星）· 同订单限评一次 · 信用分自动增减 · 流水明细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1748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6976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模块六  安全中心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988052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紧急联系人增删改查 · 行程分享给指定联系人 · 一键求助 · 分享记录可追溯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513832"/>
            <a:ext cx="10908792" cy="621792"/>
          </a:xfrm>
          <a:prstGeom prst="roundRect">
            <a:avLst>
              <a:gd name="adj" fmla="val 14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4184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1" i="0">
                <a:solidFill>
                  <a:srgbClr val="0E2A3D"/>
                </a:solidFill>
                <a:latin typeface="微软雅黑"/>
                <a:ea typeface="微软雅黑"/>
              </a:rPr>
              <a:t>模块七  管理端后台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5660136"/>
            <a:ext cx="71323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数据看板与图表 · 用户管理 · 车辆审核 · 订单管理 · 评价管理 · 封禁/解封/重置密码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用例模型：23 个用例，三类参与者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用例图、用例自然语言描述已全部完成（详见需求文档 6.2 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64592" tIns="109728" bIns="109728"/>
          <a:lstStyle/>
          <a:p>
            <a:pPr algn="l">
              <a:lnSpc>
                <a:spcPct val="128000"/>
              </a:lnSpc>
              <a:spcAft>
                <a:spcPts val="900"/>
              </a:spcAft>
            </a:pPr>
            <a:r>
              <a:rPr sz="1450" b="1" i="0">
                <a:solidFill>
                  <a:srgbClr val="0E5C54"/>
                </a:solidFill>
                <a:latin typeface="微软雅黑"/>
                <a:ea typeface="微软雅黑"/>
              </a:rPr>
              <a:t>乘客 / 车主（18 个）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1D2A36"/>
                </a:solidFill>
                <a:latin typeface="微软雅黑"/>
                <a:ea typeface="微软雅黑"/>
              </a:rPr>
              <a:t>UC-01 注册/登录      UC-02 提交实名认证
UC-03 维护个人资料   UC-04 登记车辆
UC-05 发布行程      UC-06 检索行程
UC-07 查看行程详情   UC-08 取消行程
UC-09 申请拼车      UC-10 审核申请（防超卖）
UC-11 取消申请      UC-12 标记出发/完成
UC-13 互相评价      UC-14 查看信用分与流水
UC-15 管理紧急联系人 UC-16 分享行程
UC-17 一键求助      UC-18 接收站内消息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81328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64592" tIns="109728" bIns="109728"/>
          <a:lstStyle/>
          <a:p>
            <a:pPr algn="l">
              <a:lnSpc>
                <a:spcPct val="128000"/>
              </a:lnSpc>
              <a:spcAft>
                <a:spcPts val="900"/>
              </a:spcAft>
            </a:pPr>
            <a:r>
              <a:rPr sz="1450" b="1" i="0">
                <a:solidFill>
                  <a:srgbClr val="2B6CB0"/>
                </a:solidFill>
                <a:latin typeface="微软雅黑"/>
                <a:ea typeface="微软雅黑"/>
              </a:rPr>
              <a:t>管理员（5 个）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UC-19 审核实名认证
UC-20 审核车辆
UC-21 封禁 / 解封用户
UC-22 重置用户密码
UC-23 查看数据看板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600" b="0" i="0">
                <a:solidFill>
                  <a:srgbClr val="1D2A36"/>
                </a:solidFill>
                <a:latin typeface="微软雅黑"/>
                <a:ea typeface="微软雅黑"/>
              </a:rPr>
              <a:t> </a:t>
            </a:r>
          </a:p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300" b="1" i="0">
                <a:solidFill>
                  <a:srgbClr val="0E2A3D"/>
                </a:solidFill>
                <a:latin typeface="微软雅黑"/>
                <a:ea typeface="微软雅黑"/>
              </a:rPr>
              <a:t>权限保障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服务端二次校验 role = 1，
管理端接口与用户端接口
物理隔离，防止越权访问。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81328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164592" tIns="109728" bIns="109728"/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需求文档已配套产出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用例图（角色—用例关系）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23 份用例的自然语言描述（前置条件 / 基本流程 / 备选流程 / 后置条件 / 业务规则）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顺序图 ×2：申请拼车与车主审核、实名认证流程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活动图：拼车全流程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分析类图：9 个核心实体类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• 状态图 ×3：行程 / 订单 / 实名认证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15584"/>
            <a:ext cx="10908792" cy="45720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需求描述采用「基本流程 + 备选流程 + 后置条件 + 业务规则」的统一模板，可直接映射为开发与测试用例。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核心业务流程：申请拼车与车主审核（含并发防超卖）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 UC-09 / UC-10，是本系统业务闭环与并发控制的核心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17904"/>
            <a:ext cx="201168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190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D5E0E6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76272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乘客发起申请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88920"/>
            <a:ext cx="1664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在行程详情页点击“申请拼车”，
填写乘车人数与备注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517904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1215" y="1517904"/>
            <a:ext cx="201168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17190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D5E0E6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176272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生成待审核订单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788920"/>
            <a:ext cx="1664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校验：不能申请自己的行程、
不能重复申请、人数不超余座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517904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517904"/>
            <a:ext cx="201168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1" y="17190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D5E0E6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1" y="2176272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车主查看申请列表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2788920"/>
            <a:ext cx="1664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展示乘客姓名、认证状态、
信用分、乘车人数与备注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517904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96912" y="1517904"/>
            <a:ext cx="201168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7190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D5E0E6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176272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原子扣减座位并同意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88920"/>
            <a:ext cx="1664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一条 SQL 同时完成判断与扣减，
影响行数为 1 才置为已同意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59" y="1517904"/>
            <a:ext cx="201168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59" y="1517904"/>
            <a:ext cx="201168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0928" y="171907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200" b="1" i="0">
                <a:solidFill>
                  <a:srgbClr val="D5E0E6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176272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自动流转与通知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788920"/>
            <a:ext cx="1664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座位扣至 0 自动置为已满员，
向乘客发送站内消息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11480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64592" tIns="109728" bIns="109728"/>
          <a:lstStyle/>
          <a:p>
            <a:pPr algn="l">
              <a:lnSpc>
                <a:spcPct val="128000"/>
              </a:lnSpc>
              <a:spcAft>
                <a:spcPts val="600"/>
              </a:spcAft>
            </a:pPr>
            <a:r>
              <a:rPr sz="1250" b="1" i="0">
                <a:solidFill>
                  <a:srgbClr val="D97B22"/>
                </a:solidFill>
                <a:latin typeface="微软雅黑"/>
                <a:ea typeface="微软雅黑"/>
              </a:rPr>
              <a:t>备选流程（异常分支同样被完整建模）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扣减失败（座位被其他申请抢走）→ 抛出业务异常“手慢了，剩余座位不足”，订单保持待审核；车主拒绝 → 订单置为已拒绝，可填写拒绝理由并通知乘客。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193792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0E5C54"/>
                </a:solidFill>
                <a:latin typeface="微软雅黑"/>
                <a:ea typeface="微软雅黑"/>
              </a:rPr>
              <a:t>设计要点：把“判断座位是否充足”和“扣减座位”合并为同一条 SQL 语句，
由 InnoDB 行锁保证互斥，从数据库层面根除超卖，无需在应用层额外加锁。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关键机制①：并发防超卖 —— 一条 SQL 解决座位竞争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 UC-10 业务规则，是本系统技术含量最高的设计点之一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10908792" cy="1600200"/>
          </a:xfrm>
          <a:prstGeom prst="roundRect">
            <a:avLst>
              <a:gd name="adj" fmla="val 6000"/>
            </a:avLst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164592" tIns="109728" bIns="109728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178F82"/>
                </a:solidFill>
                <a:latin typeface="微软雅黑"/>
                <a:ea typeface="微软雅黑"/>
              </a:rPr>
              <a:t>UPDATE trip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SET status = CASE WHEN seat_left - #{num} &lt;= 0 THEN 1 ELSE status END,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    seat_left = seat_left - #{num}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WHERE id = #{id} AND seat_left &gt;= #{num} AND status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3502152" cy="64008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502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两个乘客同时被车主同意，
若先查询余座再扣减，两次查询
都会读到相同的旧值，导致超卖。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918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291840"/>
            <a:ext cx="3502152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35021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9502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把“判断”与“扣减”合并为一条
原子 SQL，seat_left &gt;= #{num} 作为
WHERE 条件由数据库原子判定。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91840"/>
            <a:ext cx="350215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291840"/>
            <a:ext cx="3502152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35021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兜底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950208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影响行数为 1 才认为成功；
为 0 说明座位已被抢走，
抛业务异常并保持订单待审核。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08792" cy="73152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余座归还同样被建模：乘客取消已同意的申请时座位归还，若行程原为“已满员”则自动恢复为“招募中”，状态与座位始终一致。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关键机制②：信用分体系 —— 让“放鸽子”有代价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 UC-13 / UC-14，是本系统“劣质用户淘汰”机制的落地载体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10908792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31920"/>
                <a:gridCol w="3108960"/>
                <a:gridCol w="386791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行为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分值变动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设计意图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新用户初始信用分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100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默认信任，鼓励正常使用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发布者取消行程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-5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约束车主临时爽约，取消需付出成本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乘客取消已同意的申请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-5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座位已占用，取消需归还并承担代价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行程完成后获得 4~5 星评价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+1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正向激励，鼓励良好履约行为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行程完成后获得 1~2 星评价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-3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惩罚力度大于奖励，形成非对称约束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信用分低于 60 分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禁止发布行程与申请拼车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淘汰机制：劣质用户被逐渐挤出平台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892040"/>
            <a:ext cx="5349240" cy="1143000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0E5C54"/>
                </a:solidFill>
                <a:latin typeface="微软雅黑"/>
                <a:ea typeface="微软雅黑"/>
              </a:rPr>
              <a:t>全程可追溯：每一次信用分变动都写入 CreditLog 流水，记录变动值、变动后分值、变动原因与时间，用户能清楚看到“我为什么被扣分”。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892040"/>
            <a:ext cx="5349240" cy="114300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D97B22"/>
                </a:solidFill>
                <a:latin typeface="微软雅黑"/>
                <a:ea typeface="微软雅黑"/>
              </a:rPr>
              <a:t>防刷分设计：同一订单对同一用户只能评价一次，从数据层面杜绝互刷好评；管理员可在后台查看全部评价，监控恶意差评。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关键机制③：安全中心 —— 让行程“有第三方知晓”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 UC-15 / UC-16 / UC-17，针对学生独自乘车的安全痛点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350215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3502152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紧急联系人管理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992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增删改查姓名、手机号、关系
提前录入家长 / 室友联系方式，
作为一切安全功能的触达基础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81328"/>
            <a:ext cx="350215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81328"/>
            <a:ext cx="3502152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1907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分享行程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29992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上车前把行程一键分享给指定
联系人，内容含路线、出发时间、
发布者姓名与联系方式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81328"/>
            <a:ext cx="3502152" cy="2148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81328"/>
            <a:ext cx="3502152" cy="6400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71907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一键求助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299923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行程详情页发起，向全部紧急
联系人发送求助信息，同时生成
站内消息与分享记录便于追溯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5A6B7A"/>
                </a:solidFill>
                <a:latin typeface="微软雅黑"/>
                <a:ea typeface="微软雅黑"/>
              </a:rPr>
              <a:t>权限校验规则：只有该行程的车主 / 发起人，或申请已被同意的乘客，才能使用分享行程与一键求助；
无关人员无法获取他人行程信息，从接口层面防止隐私泄露。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56048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D97B22"/>
                </a:solidFill>
                <a:latin typeface="微软雅黑"/>
                <a:ea typeface="微软雅黑"/>
              </a:rPr>
              <a:t>兜底提示：未设置任何紧急联系人时，系统会明确提示“请先在安全中心添加紧急联系人”，
避免用户以为已经发出求助、实际无人收到。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场景适配关键：双类型行程设计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这是本系统区别于普通“拼车群”的核心产品设计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10908792" cy="39044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/>
                <a:gridCol w="4526280"/>
                <a:gridCol w="4599432"/>
              </a:tblGrid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对比项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 0：私家车顺风车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 1：网约车拼单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适用人群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有车的学生车主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没有车、想和同路同学合打车的学生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发布前置条件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已实名认证 + 本人名下审核通过的车辆 + 信用分 ≥ 60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已实名认证 + 信用分 ≥ 60（无需车辆）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座位数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车辆核载人数 − 1，范围 1~6 座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系统固定提供 3 个拼车位（含发起人共 4 人，符合网约车载客上限）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费用计算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车主填写每人固定分摊费用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填写预估总价，人均 = 总价 ÷ 实际人数（含发起人），随人数增加而下降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车辆字段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发布时必须选择本人名下已审核车辆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无需车辆字段，未登记车辆的学生也可发起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信息展示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展示车辆信息（车牌、车型、颜色）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展示“当前人均”与“满员人均”提示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86400"/>
            <a:ext cx="10908792" cy="658368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E5C54"/>
                </a:solidFill>
                <a:latin typeface="微软雅黑"/>
                <a:ea typeface="微软雅黑"/>
              </a:rPr>
              <a:t>设计意图：类型 1 直击“商业平台车主不接校园短途单”的痛点 —— 没有车的学生也能发起行程，用网约车拼单的方式拿到“网约车的速度 + 可接受的价格”。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状态机建模：三套状态流转，覆盖业务全生命周期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对应需求文档 6.3.5 状态图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3502152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0078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行程 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178F82"/>
                </a:solidFill>
                <a:latin typeface="微软雅黑"/>
                <a:ea typeface="微软雅黑"/>
              </a:rPr>
              <a:t>0 招募中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可接受乘客申请；可编辑、取消、出发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980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178F82"/>
                </a:solidFill>
                <a:latin typeface="微软雅黑"/>
                <a:ea typeface="微软雅黑"/>
              </a:rPr>
              <a:t>1 已满员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座位已满，不再接受新申请；可取消、出发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8328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178F82"/>
                </a:solidFill>
                <a:latin typeface="微软雅黑"/>
                <a:ea typeface="微软雅黑"/>
              </a:rPr>
              <a:t>2 已出发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行程进行中；仅可标记完成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6849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178F82"/>
                </a:solidFill>
                <a:latin typeface="微软雅黑"/>
                <a:ea typeface="微软雅黑"/>
              </a:rPr>
              <a:t>3 已完成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行程结束，双方可互相评价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55371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178F82"/>
                </a:solidFill>
                <a:latin typeface="微软雅黑"/>
                <a:ea typeface="微软雅黑"/>
              </a:rPr>
              <a:t>4 已取消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已通知全部乘客，发布者扣 5 点信用分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81728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8E9DA9"/>
                </a:solidFill>
                <a:latin typeface="微软雅黑"/>
                <a:ea typeface="微软雅黑"/>
              </a:rPr>
              <a:t>流转要点：座位扣至 0 自动转已满员；乘客取消归还座位后，已满员恢复为招募中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81328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481328"/>
            <a:ext cx="3502152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70078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拼车订单 TripOrder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21284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2B6CB0"/>
                </a:solidFill>
                <a:latin typeface="微软雅黑"/>
                <a:ea typeface="微软雅黑"/>
              </a:rPr>
              <a:t>0 待审核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等待车主处理，此时不占用座位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7980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2B6CB0"/>
                </a:solidFill>
                <a:latin typeface="微软雅黑"/>
                <a:ea typeface="微软雅黑"/>
              </a:rPr>
              <a:t>1 已同意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座位已原子扣减，行程详情中可见乘客信息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338328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2B6CB0"/>
                </a:solidFill>
                <a:latin typeface="微软雅黑"/>
                <a:ea typeface="微软雅黑"/>
              </a:rPr>
              <a:t>2 已拒绝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车主拒绝，可附理由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96849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2B6CB0"/>
                </a:solidFill>
                <a:latin typeface="微软雅黑"/>
                <a:ea typeface="微软雅黑"/>
              </a:rPr>
              <a:t>3 已取消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乘客主动取消；若已同意则归还座位并扣 5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55371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2B6CB0"/>
                </a:solidFill>
                <a:latin typeface="微软雅黑"/>
                <a:ea typeface="微软雅黑"/>
              </a:rPr>
              <a:t>4 已完成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行程完成，双方可互相评价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681728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8E9DA9"/>
                </a:solidFill>
                <a:latin typeface="微软雅黑"/>
                <a:ea typeface="微软雅黑"/>
              </a:rPr>
              <a:t>流转要点：待审核取消不扣分；已同意取消才扣分，规则与代价对等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481328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481328"/>
            <a:ext cx="3502152" cy="64008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700784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用户实名认证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21284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B22"/>
                </a:solidFill>
                <a:latin typeface="微软雅黑"/>
                <a:ea typeface="微软雅黑"/>
              </a:rPr>
              <a:t>未认证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注册后的初始状态，不能发布行程或申请拼车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7980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B22"/>
                </a:solidFill>
                <a:latin typeface="微软雅黑"/>
                <a:ea typeface="微软雅黑"/>
              </a:rPr>
              <a:t>待审核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已上传学生证并提交，等待管理员审核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38328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B22"/>
                </a:solidFill>
                <a:latin typeface="微软雅黑"/>
                <a:ea typeface="微软雅黑"/>
              </a:rPr>
              <a:t>已通过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解锁发布行程与申请拼车权限（核心准入闸门）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96849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B22"/>
                </a:solidFill>
                <a:latin typeface="微软雅黑"/>
                <a:ea typeface="微软雅黑"/>
              </a:rPr>
              <a:t>已驳回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附驳回理由，用户可重新上传提交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681728"/>
            <a:ext cx="29992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8E9DA9"/>
                </a:solidFill>
                <a:latin typeface="微软雅黑"/>
                <a:ea typeface="微软雅黑"/>
              </a:rPr>
              <a:t>流转要点：任何业务操作前都先校验认证状态，未通过者被统一拦截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分析类图：9 个核心实体类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对应需求文档 6.3.4，已明确职责、关键属性与关键业务方法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User 用户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身份信息、认证状态、信用分、角色权限；是系统中所有业务行为的发起主体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8132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Vehicle 车辆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与用户多对一；记录车牌、车型、颜色、核载人数与审核状态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8132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Trip 行程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并发控制的核心载体；承载行程类型、路线、时间、座位、费用与状态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9864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TripOrder 拼车订单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连接行程与乘客；记录申请、审核、取消、完成的全过程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9864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Review 评价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与订单一对一；记录双向评价的星级与内容，触发信用分变动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89864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CreditLog 信用流水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保证每一次信用分变动都可追溯，用户可查看被扣分的原因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1596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EmergencyContact 紧急联系人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与用户多对一；供行程分享与一键求助使用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31596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TripShare 分享记录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记录分享对象、类型与时间，便于事后追溯求助行为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315968"/>
            <a:ext cx="3502152" cy="1280160"/>
          </a:xfrm>
          <a:prstGeom prst="roundRect">
            <a:avLst>
              <a:gd name="adj" fmla="val 9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164592" tIns="109728" bIns="109728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Message 站内消息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系统在关键节点自动发送通知，支持分类筛选与已读标记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760720"/>
            <a:ext cx="1090879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类图与数据库表结构一一对应，可直接导出建表脚本，为第二周的开发提供无歧义的实现依据。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21556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技术选型与可行性评估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315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FB4C4"/>
                </a:solidFill>
                <a:latin typeface="微软雅黑"/>
                <a:ea typeface="微软雅黑"/>
              </a:rPr>
              <a:t>成熟的工程组合 + 校园场景的规模适配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005840" cy="4114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初步技术选型：前后端分离的成熟工程组合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选择原则：社区资料丰富、问题易检索、学习成本可控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10908792" cy="43616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91640"/>
                <a:gridCol w="3200400"/>
                <a:gridCol w="6016752"/>
              </a:tblGrid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技术选型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选型理由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前端框架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Vue 3 + Element Plus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组合式 API 上手快；Element Plus 组件库完整，表单、表格、分页开箱即用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前端工程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Vue Router + Pinia + Axios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路由与状态管理标准化；Axios 统一封装请求拦截与 Token 注入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后端框架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Spring Boot + MyBatis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Java 生态最成熟的 Web 组合，分层清晰，注解开发效率高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分页与检索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PageHelper 物理分页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行程大厅组合检索需分页，物理分页避免全表加载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鉴权方案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JWT 令牌 + MD5 加盐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无状态鉴权，前后端分离友好；密码加盐存储，避免明文风险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数据库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MySQL 5.7（InnoDB）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行锁支撑原子扣减座位；校园场景数据规模小，单机完全可承载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文件存储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本地存储（学生证照片）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仅用于实名认证审核，无第三方对象存储成本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部署形态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前后端分离 Web 应用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用户终端使用各种设备的浏览器即可访问，无需安装 App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系统架构：前后端分离 + 分层职责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浏览器端 SPA 通过 HTTP/JSON 与后端交互，后端分层解耦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00200"/>
            <a:ext cx="2286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600200"/>
            <a:ext cx="2286000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288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0E2A3D"/>
                </a:solidFill>
                <a:latin typeface="微软雅黑"/>
                <a:ea typeface="微软雅黑"/>
              </a:rPr>
              <a:t>用户终端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19385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178F82"/>
                </a:solidFill>
                <a:latin typeface="微软雅黑"/>
                <a:ea typeface="微软雅黑"/>
              </a:rPr>
              <a:t>PC / 手机 / 平板浏览器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1938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无需安装，响应式适配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7744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C3D0D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600200"/>
            <a:ext cx="2286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39" y="1600200"/>
            <a:ext cx="2286000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8288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0E2A3D"/>
                </a:solidFill>
                <a:latin typeface="微软雅黑"/>
                <a:ea typeface="微软雅黑"/>
              </a:rPr>
              <a:t>前端 SPA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86000"/>
            <a:ext cx="19385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2B6CB0"/>
                </a:solidFill>
                <a:latin typeface="微软雅黑"/>
                <a:ea typeface="微软雅黑"/>
              </a:rPr>
              <a:t>Vue 3 + Element Plus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80360"/>
            <a:ext cx="1938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页面渲染、路由、状态管理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7" y="237744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C3D0D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600200"/>
            <a:ext cx="2286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600200"/>
            <a:ext cx="2286000" cy="64008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8288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0E2A3D"/>
                </a:solidFill>
                <a:latin typeface="微软雅黑"/>
                <a:ea typeface="微软雅黑"/>
              </a:rPr>
              <a:t>后端服务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286000"/>
            <a:ext cx="19385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0E2A3D"/>
                </a:solidFill>
                <a:latin typeface="微软雅黑"/>
                <a:ea typeface="微软雅黑"/>
              </a:rPr>
              <a:t>Spring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880360"/>
            <a:ext cx="1938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Controller / Service / Mapper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377440"/>
            <a:ext cx="502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1300" b="1" i="0">
                <a:solidFill>
                  <a:srgbClr val="C3D0D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34856" y="1600200"/>
            <a:ext cx="228600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34856" y="1600200"/>
            <a:ext cx="2286000" cy="64008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7736" y="18288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00" b="1" i="0">
                <a:solidFill>
                  <a:srgbClr val="0E2A3D"/>
                </a:solidFill>
                <a:latin typeface="微软雅黑"/>
                <a:ea typeface="微软雅黑"/>
              </a:rPr>
              <a:t>数据存储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2286000"/>
            <a:ext cx="19385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D97B22"/>
                </a:solidFill>
                <a:latin typeface="微软雅黑"/>
                <a:ea typeface="微软雅黑"/>
              </a:rPr>
              <a:t>MySQL 5.7（InnoDB）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880360"/>
            <a:ext cx="19385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i="0">
                <a:solidFill>
                  <a:srgbClr val="5A6B7A"/>
                </a:solidFill>
                <a:latin typeface="微软雅黑"/>
                <a:ea typeface="微软雅黑"/>
              </a:rPr>
              <a:t>业务数据 + 行锁并发控制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977639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64592" tIns="109728" bIns="109728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JWT 拦截器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校验令牌与角色权限，未登录 / 越权请求统一拦截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6552" y="3977639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64592" tIns="109728" bIns="109728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全局异常处理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业务异常统一返回，前端按错误码提示用户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1" y="3977639"/>
            <a:ext cx="3502152" cy="86868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64592" tIns="109728" bIns="109728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文件上传校验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扩展名白名单 + 5MB 大小限制，防止非法文件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120640"/>
            <a:ext cx="10853928" cy="777240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E5C54"/>
                </a:solidFill>
                <a:latin typeface="微软雅黑"/>
                <a:ea typeface="微软雅黑"/>
              </a:rPr>
              <a:t>架构取舍：不引入微服务、消息队列、Redis 等重型中间件 —— 校园场景的数据规模与并发量，单机 Spring Boot + MySQL 已足够，避免过度设计拖慢开发进度。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可行性评估：技术 / 条件 / 时间三个维度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81328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82242"/>
            <a:ext cx="68580" cy="1552651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技术可行性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93392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Vue 3 + Spring Boot 是业界最成熟的组合之一，社区资料丰富，遇到问题容易检索到解决方案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核心技术难点（防超卖）已有确定方案：原子 UPDATE + InnoDB 行锁，不依赖应用层加锁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业务模型清晰：三套状态机、九张核心表，无复杂的算法或外部依赖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团队已具备 Java / 前端基础，技术栈与课程内容一致，学习成本可控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18104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19018"/>
            <a:ext cx="68580" cy="1552651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条件可行性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30168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开发工具：IDEA 社区版 + MySQL 5.7，均为免费软件，无授权成本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硬件要求低：校园出行场景数据规模小，单机 MySQL 完全可承载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不做在线支付，不以盈利为目的，规避了金融资质与资金安全问题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无第三方付费服务依赖：站内消息替代短信/推送，成本为零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80"/>
            <a:ext cx="1090879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755794"/>
            <a:ext cx="68580" cy="1552651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4114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1" i="0">
                <a:solidFill>
                  <a:srgbClr val="0E2A3D"/>
                </a:solidFill>
                <a:latin typeface="微软雅黑"/>
                <a:ea typeface="微软雅黑"/>
              </a:rPr>
              <a:t>时间可行性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66944"/>
            <a:ext cx="1033272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按模块分组开发与测试，工作量划分较为均衡，无单点瓶颈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模块间耦合度低（用户 / 车辆 / 行程 / 订单 / 评价 / 安全 / 后台），可高度并行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需求文档已细化到用例流程与字段级别，可显著减少开发期返工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• 第二周即可完成工程骨架与核心链路打通，节奏可控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潜在风险与应对措施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81328"/>
          <a:ext cx="10908792" cy="46085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65960"/>
                <a:gridCol w="4023360"/>
                <a:gridCol w="4919472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风险点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可能后果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应对措施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并发超卖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多人同时被同意，座位被扣成负数，订单与座位不一致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判断与扣减合并为一条原子 SQL，依赖 InnoDB 行锁；影响行数为 0 即抛业务异常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刷好评 / 恶意差评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信用分失真，信用体系失去公信力，无法淘汰劣质用户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同一订单对同一用户只能评价一次；管理员后台可查看全部评价并监控异常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小组成员参与度不均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进度延期，个别成员承担过重，影响交付质量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模块明确分工与产出物；所有制品由对应完成人上传 Git 仓库，以提交记录核算工作量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实名认证资料造假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非本校人员混入，封闭式学生互助网络的前提被破坏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学生证照片由管理员人工审核，可通过或驳回并填写理由；车辆信息同步核验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行程中的真实安全事件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学生人身安全受威胁，平台需承担责任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紧急联系人 + 行程分享 + 一键求助三重机制，让行程始终有第三方知晓并可追溯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需求蔓延导致延期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功能不断追加，第二周计划无法完成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 i="0">
                          <a:solidFill>
                            <a:srgbClr val="1D2A36"/>
                          </a:solidFill>
                          <a:latin typeface="微软雅黑"/>
                          <a:ea typeface="微软雅黑"/>
                        </a:rPr>
                        <a:t>本阶段冻结需求范围，新增需求进入待评估列表，第二周只做已确认的核心链路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0" b="1" i="0">
                <a:solidFill>
                  <a:srgbClr val="21556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</a:rPr>
              <a:t>第二周工作进度安排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315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8FB4C4"/>
                </a:solidFill>
                <a:latin typeface="微软雅黑"/>
                <a:ea typeface="微软雅黑"/>
              </a:rPr>
              <a:t>从需求文档到可运行骨架的一周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005840" cy="4114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第二周总体安排：目标与每日节奏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本周目标：需求冻结 + 工程骨架搭建 + 核心链路端到端跑通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0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19272"/>
                <a:gridCol w="1084204"/>
                <a:gridCol w="1084204"/>
                <a:gridCol w="1084204"/>
                <a:gridCol w="1084204"/>
                <a:gridCol w="1084204"/>
                <a:gridCol w="1084204"/>
                <a:gridCol w="108420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 / 日期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周一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周二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周三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周四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周五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周六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周日</a:t>
                      </a:r>
                    </a:p>
                  </a:txBody>
                  <a:tcPr anchor="ctr" marL="100584" marR="82296" marT="27432" marB="27432">
                    <a:solidFill>
                      <a:srgbClr val="0E2A3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需求冻结与详细设计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工程搭建与数据库建表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模块一/二：用户认证 + 车辆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模块三：行程发布与检索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模块四：申请订单 + 防超卖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模块五/六：评价信用 + 安全中心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模块七：管理端后台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前后端联调与联测</a:t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0E2A3D"/>
                          </a:solidFill>
                          <a:latin typeface="微软雅黑"/>
                          <a:ea typeface="微软雅黑"/>
                        </a:rPr>
                        <a:t>演示准备与周报输出</a:t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100584" marR="8229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●</a:t>
                      </a:r>
                    </a:p>
                  </a:txBody>
                  <a:tcPr anchor="ctr" marL="100584" marR="82296" marT="27432" marB="27432">
                    <a:solidFill>
                      <a:srgbClr val="178F82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6235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5A6B7A"/>
                </a:solidFill>
                <a:latin typeface="微软雅黑"/>
                <a:ea typeface="微软雅黑"/>
              </a:rPr>
              <a:t>并行策略：模块三与模块一/二同时开工，模块四依赖前两者接口先行冻结。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562356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0E5C54"/>
                </a:solidFill>
                <a:latin typeface="微软雅黑"/>
                <a:ea typeface="微软雅黑"/>
              </a:rPr>
              <a:t>缓冲安排：周日仅安排联调与演示准备，为联调问题预留一天的修复时间。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分组分工：按模块纵向切分，每人负责完整切片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每个人从接口到页面独立负责，边界清晰、工作量均衡、便于以 Git 提交核算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26151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81328"/>
            <a:ext cx="2615184" cy="64008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0078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178F82"/>
                </a:solidFill>
                <a:latin typeface="微软雅黑"/>
                <a:ea typeface="微软雅黑"/>
              </a:rPr>
              <a:t>A 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用户与认证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87168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UC-01 注册登录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UC-02 实名认证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UC-03 个人资料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UC-19 认证审核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UC-21/22 封禁与重置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481328"/>
            <a:ext cx="26151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1481328"/>
            <a:ext cx="2615184" cy="6400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70078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2B6CB0"/>
                </a:solidFill>
                <a:latin typeface="微软雅黑"/>
                <a:ea typeface="微软雅黑"/>
              </a:rPr>
              <a:t>B 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车辆与行程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87168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UC-04 车辆登记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UC-05 发布行程（双类型）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UC-06 检索行程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UC-07 行程详情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UC-08 取消行程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481328"/>
            <a:ext cx="26151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481328"/>
            <a:ext cx="2615184" cy="64008"/>
          </a:xfrm>
          <a:prstGeom prst="rect">
            <a:avLst/>
          </a:prstGeom>
          <a:solidFill>
            <a:srgbClr val="D9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0078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D97B22"/>
                </a:solidFill>
                <a:latin typeface="微软雅黑"/>
                <a:ea typeface="微软雅黑"/>
              </a:rPr>
              <a:t>C 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订单与并发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487168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UC-09 申请拼车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UC-10 审核申请（防超卖）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UC-11 取消申请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UC-12 标记出发/完成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UC-13/14 评价与信用分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1481328"/>
            <a:ext cx="2615184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1481328"/>
            <a:ext cx="2615184" cy="6400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700784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 i="0">
                <a:solidFill>
                  <a:srgbClr val="6B4EA8"/>
                </a:solidFill>
                <a:latin typeface="微软雅黑"/>
                <a:ea typeface="微软雅黑"/>
              </a:rPr>
              <a:t>D 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0E2A3D"/>
                </a:solidFill>
                <a:latin typeface="微软雅黑"/>
                <a:ea typeface="微软雅黑"/>
              </a:rPr>
              <a:t>安全与后台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487168"/>
            <a:ext cx="22860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UC-15 紧急联系人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UC-16/17 分享与求助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UC-18 站内消息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UC-20 车辆审核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• UC-23 数据看板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56048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A6B7A"/>
                </a:solidFill>
                <a:latin typeface="微软雅黑"/>
                <a:ea typeface="微软雅黑"/>
              </a:rPr>
              <a:t>公共层由各组轮值或指定专人维护：前端公共组件（布局、路由守卫、请求封装）、后端公共模块（统一返回体、全局异常、JWT 拦截器）——本周初一次性完成后冻结，避免并行开发时互相覆盖。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77724" cy="36576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43891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0E2A3D"/>
                </a:solidFill>
                <a:latin typeface="微软雅黑"/>
                <a:ea typeface="微软雅黑"/>
              </a:rPr>
              <a:t>本周交付物与验收标准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509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8E9DA9"/>
                </a:solidFill>
                <a:latin typeface="微软雅黑"/>
                <a:ea typeface="微软雅黑"/>
              </a:rPr>
              <a:t>以可演示、可运行、可追溯为准，不以“写了多少代码”衡量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0972"/>
          </a:xfrm>
          <a:prstGeom prst="rect">
            <a:avLst/>
          </a:prstGeom>
          <a:solidFill>
            <a:srgbClr val="DD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校园顺风车拼车系统 · 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Aft>
                <a:spcPts val="0"/>
              </a:spcAft>
            </a:pPr>
            <a:r>
              <a:rPr sz="900" b="0" i="0">
                <a:solidFill>
                  <a:srgbClr val="8E9DA9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81328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50" b="1" i="0">
                <a:solidFill>
                  <a:srgbClr val="0E2A3D"/>
                </a:solidFill>
                <a:latin typeface="微软雅黑"/>
                <a:ea typeface="微软雅黑"/>
              </a:rPr>
              <a:t>交付物清单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需求规格说明书（定稿）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含 23 个用例描述、三套状态图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设计图集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用例图 / 顺序图 ×2 / 活动图 / 分析类图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数据库设计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ER 图 + 建表脚本，九张核心表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接口文档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REST 接口清单：路径、入参、返回、错误码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前后端工程骨架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Git 仓库 + 分支规范 + 可运行的空壳工程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D2A36"/>
                </a:solidFill>
                <a:latin typeface="微软雅黑"/>
                <a:ea typeface="微软雅黑"/>
              </a:rPr>
              <a:t>• 可演示的功能切片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050" b="0" i="0">
                <a:solidFill>
                  <a:srgbClr val="5A6B7A"/>
                </a:solidFill>
                <a:latin typeface="微软雅黑"/>
                <a:ea typeface="微软雅黑"/>
              </a:rPr>
              <a:t>   核心链路端到端跑通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81328"/>
            <a:ext cx="5349240" cy="4023360"/>
          </a:xfrm>
          <a:prstGeom prst="roundRect">
            <a:avLst>
              <a:gd name="adj" fmla="val 6000"/>
            </a:avLst>
          </a:prstGeom>
          <a:solidFill>
            <a:srgbClr val="E4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64592" tIns="109728" bIns="109728"/>
          <a:lstStyle/>
          <a:p>
            <a:pPr algn="l">
              <a:lnSpc>
                <a:spcPct val="128000"/>
              </a:lnSpc>
              <a:spcAft>
                <a:spcPts val="1200"/>
              </a:spcAft>
            </a:pPr>
            <a:r>
              <a:rPr sz="1550" b="1" i="0">
                <a:solidFill>
                  <a:srgbClr val="0E5C54"/>
                </a:solidFill>
                <a:latin typeface="微软雅黑"/>
                <a:ea typeface="微软雅黑"/>
              </a:rPr>
              <a:t>验收标准（演示脚本）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① 用学号注册并登录，Token 正确写入 localStorage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② 上传学生证提交实名认证，管理员后台审核通过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③ 登记一辆车并提交，管理员审核通过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④ 以类型 1（网约车拼单）发布一条行程，人均费用随人数正确变化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⑤ 另一账号在行程大厅按条件检索到该行程并申请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⑥ 发起人同意申请，座位正确扣减，行程自动置为已满员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⑦ 走完出发 / 完成，双方互评，信用分与流水正确变动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 i="0">
                <a:solidFill>
                  <a:srgbClr val="1D2A36"/>
                </a:solidFill>
                <a:latin typeface="微软雅黑"/>
                <a:ea typeface="微软雅黑"/>
              </a:rPr>
              <a:t>⑧ 使用行程分享与一键求助，紧急联系人收到信息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50992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64592" tIns="109728" bIns="109728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A6B7A"/>
                </a:solidFill>
                <a:latin typeface="微软雅黑"/>
                <a:ea typeface="微软雅黑"/>
              </a:rPr>
              <a:t>若上述八步演示全部通过，即视为第二周目标达成；未通过的部分进入第三周优先修复队列。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微软雅黑"/>
                <a:ea typeface="微软雅黑"/>
              </a:rPr>
              <a:t>谢谢聆听 · 恳请老师指正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3794760"/>
            <a:ext cx="1280160" cy="45720"/>
          </a:xfrm>
          <a:prstGeom prst="rect">
            <a:avLst/>
          </a:prstGeom>
          <a:solidFill>
            <a:srgbClr val="17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411480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500" b="0" i="0">
                <a:solidFill>
                  <a:srgbClr val="9FC2D1"/>
                </a:solidFill>
                <a:latin typeface="微软雅黑"/>
                <a:ea typeface="微软雅黑"/>
              </a:rPr>
              <a:t>校园顺风车拼车系统 · 软件需求构思与描述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00" b="0" i="0">
                <a:solidFill>
                  <a:srgbClr val="7FA5B6"/>
                </a:solidFill>
                <a:latin typeface="微软雅黑"/>
                <a:ea typeface="微软雅黑"/>
              </a:rPr>
              <a:t>下一阶段：完成详细设计评审，进入第二周开发计划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